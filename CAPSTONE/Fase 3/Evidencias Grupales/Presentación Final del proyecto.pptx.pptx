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" charset="1" panose="020F0502020204030204"/>
      <p:regular r:id="rId15"/>
    </p:embeddedFont>
    <p:embeddedFont>
      <p:font typeface="Calibri (MS) Bold" charset="1" panose="020F0702030404030204"/>
      <p:regular r:id="rId16"/>
    </p:embeddedFont>
    <p:embeddedFont>
      <p:font typeface="Nunito" charset="1" panose="00000000000000000000"/>
      <p:regular r:id="rId17"/>
    </p:embeddedFont>
    <p:embeddedFont>
      <p:font typeface="Nunito Bold" charset="1" panose="00000000000000000000"/>
      <p:regular r:id="rId18"/>
    </p:embeddedFont>
    <p:embeddedFont>
      <p:font typeface="Montserrat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1" y="3354933"/>
            <a:ext cx="18105118" cy="268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“Gestión de Camiones,</a:t>
            </a:r>
          </a:p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Taller PepsiCo Santa Marta”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PRESENTACIÓN FINAL CAPSTONE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781450" y="6130191"/>
            <a:ext cx="4725100" cy="1091039"/>
          </a:xfrm>
          <a:custGeom>
            <a:avLst/>
            <a:gdLst/>
            <a:ahLst/>
            <a:cxnLst/>
            <a:rect r="r" b="b" t="t" l="l"/>
            <a:pathLst>
              <a:path h="1091039" w="4725100">
                <a:moveTo>
                  <a:pt x="0" y="0"/>
                </a:moveTo>
                <a:lnTo>
                  <a:pt x="4725100" y="0"/>
                </a:lnTo>
                <a:lnTo>
                  <a:pt x="4725100" y="1091039"/>
                </a:lnTo>
                <a:lnTo>
                  <a:pt x="0" y="10910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49668" y="7644081"/>
            <a:ext cx="4811094" cy="259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Alumnos: Tomas Aguilera</a:t>
            </a:r>
          </a:p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Nicolas Llanos</a:t>
            </a:r>
          </a:p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Michelle Morales</a:t>
            </a:r>
          </a:p>
          <a:p>
            <a:pPr algn="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Docente: Luis Bravo</a:t>
            </a:r>
          </a:p>
          <a:p>
            <a:pPr algn="r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CAPSTONE</a:t>
            </a:r>
          </a:p>
          <a:p>
            <a:pPr algn="r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27-11-2025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81539" y="2566228"/>
            <a:ext cx="11450241" cy="2039322"/>
            <a:chOff x="0" y="0"/>
            <a:chExt cx="15266988" cy="2719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66924" cy="2719070"/>
            </a:xfrm>
            <a:custGeom>
              <a:avLst/>
              <a:gdLst/>
              <a:ahLst/>
              <a:cxnLst/>
              <a:rect r="r" b="b" t="t" l="l"/>
              <a:pathLst>
                <a:path h="2719070" w="15266924">
                  <a:moveTo>
                    <a:pt x="0" y="271907"/>
                  </a:moveTo>
                  <a:cubicBezTo>
                    <a:pt x="0" y="121793"/>
                    <a:pt x="121793" y="0"/>
                    <a:pt x="271907" y="0"/>
                  </a:cubicBezTo>
                  <a:lnTo>
                    <a:pt x="14995018" y="0"/>
                  </a:lnTo>
                  <a:cubicBezTo>
                    <a:pt x="15145131" y="0"/>
                    <a:pt x="15266924" y="121793"/>
                    <a:pt x="15266924" y="271907"/>
                  </a:cubicBezTo>
                  <a:lnTo>
                    <a:pt x="15266924" y="2447163"/>
                  </a:lnTo>
                  <a:cubicBezTo>
                    <a:pt x="15266924" y="2597277"/>
                    <a:pt x="15145131" y="2719070"/>
                    <a:pt x="14995018" y="2719070"/>
                  </a:cubicBezTo>
                  <a:lnTo>
                    <a:pt x="271907" y="2719070"/>
                  </a:lnTo>
                  <a:cubicBezTo>
                    <a:pt x="121793" y="2719070"/>
                    <a:pt x="0" y="2597404"/>
                    <a:pt x="0" y="244716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2A7DB">
                    <a:alpha val="100000"/>
                  </a:srgbClr>
                </a:gs>
                <a:gs pos="50000">
                  <a:srgbClr val="559BDB">
                    <a:alpha val="100000"/>
                  </a:srgbClr>
                </a:gs>
                <a:gs pos="100000">
                  <a:srgbClr val="448AC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70756" y="2561466"/>
            <a:ext cx="8961024" cy="2011754"/>
            <a:chOff x="0" y="0"/>
            <a:chExt cx="11948032" cy="26823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48032" cy="2682339"/>
            </a:xfrm>
            <a:custGeom>
              <a:avLst/>
              <a:gdLst/>
              <a:ahLst/>
              <a:cxnLst/>
              <a:rect r="r" b="b" t="t" l="l"/>
              <a:pathLst>
                <a:path h="2682339" w="11948032">
                  <a:moveTo>
                    <a:pt x="0" y="0"/>
                  </a:moveTo>
                  <a:lnTo>
                    <a:pt x="11948032" y="0"/>
                  </a:lnTo>
                  <a:lnTo>
                    <a:pt x="11948032" y="2682339"/>
                  </a:lnTo>
                  <a:lnTo>
                    <a:pt x="0" y="2682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894" r="0" b="-89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2010" y="93910"/>
              <a:ext cx="11684012" cy="2456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9"/>
                </a:lnSpc>
              </a:pPr>
              <a:r>
                <a:rPr lang="en-US" sz="389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Tomás Aguilera</a:t>
              </a:r>
            </a:p>
            <a:p>
              <a:pPr algn="l" marL="542637" indent="-180879" lvl="2">
                <a:lnSpc>
                  <a:spcPts val="3238"/>
                </a:lnSpc>
                <a:buFont typeface="Arial"/>
                <a:buChar char="⚬"/>
              </a:pPr>
              <a:r>
                <a:rPr lang="en-US" sz="2998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</a:t>
              </a:r>
            </a:p>
            <a:p>
              <a:pPr algn="l" marL="542637" indent="-180879" lvl="2">
                <a:lnSpc>
                  <a:spcPts val="3238"/>
                </a:lnSpc>
                <a:buFont typeface="Arial"/>
                <a:buChar char="⚬"/>
              </a:pPr>
              <a:r>
                <a:rPr lang="en-US" sz="2998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Integración</a:t>
              </a:r>
            </a:p>
            <a:p>
              <a:pPr algn="l" marL="542637" indent="-180879" lvl="2">
                <a:lnSpc>
                  <a:spcPts val="3238"/>
                </a:lnSpc>
                <a:buFont typeface="Arial"/>
                <a:buChar char="⚬"/>
              </a:pPr>
              <a:r>
                <a:rPr lang="en-US" sz="2998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85470" y="2770160"/>
            <a:ext cx="2290047" cy="1631457"/>
            <a:chOff x="0" y="0"/>
            <a:chExt cx="3053396" cy="21752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53461" cy="2175256"/>
            </a:xfrm>
            <a:custGeom>
              <a:avLst/>
              <a:gdLst/>
              <a:ahLst/>
              <a:cxnLst/>
              <a:rect r="r" b="b" t="t" l="l"/>
              <a:pathLst>
                <a:path h="2175256" w="3053461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835910" y="0"/>
                  </a:lnTo>
                  <a:cubicBezTo>
                    <a:pt x="2956052" y="0"/>
                    <a:pt x="3053461" y="97409"/>
                    <a:pt x="3053461" y="217551"/>
                  </a:cubicBezTo>
                  <a:lnTo>
                    <a:pt x="3053461" y="1957705"/>
                  </a:lnTo>
                  <a:cubicBezTo>
                    <a:pt x="3053461" y="2077847"/>
                    <a:pt x="2956052" y="2175256"/>
                    <a:pt x="2835910" y="2175256"/>
                  </a:cubicBezTo>
                  <a:lnTo>
                    <a:pt x="217551" y="2175256"/>
                  </a:lnTo>
                  <a:cubicBezTo>
                    <a:pt x="97409" y="2175256"/>
                    <a:pt x="0" y="2077847"/>
                    <a:pt x="0" y="1957705"/>
                  </a:cubicBezTo>
                  <a:close/>
                </a:path>
              </a:pathLst>
            </a:custGeom>
            <a:solidFill>
              <a:srgbClr val="C4D5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181539" y="4809482"/>
            <a:ext cx="11450241" cy="2039322"/>
            <a:chOff x="0" y="0"/>
            <a:chExt cx="15266988" cy="2719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66924" cy="2719070"/>
            </a:xfrm>
            <a:custGeom>
              <a:avLst/>
              <a:gdLst/>
              <a:ahLst/>
              <a:cxnLst/>
              <a:rect r="r" b="b" t="t" l="l"/>
              <a:pathLst>
                <a:path h="2719070" w="15266924">
                  <a:moveTo>
                    <a:pt x="0" y="271907"/>
                  </a:moveTo>
                  <a:cubicBezTo>
                    <a:pt x="0" y="121793"/>
                    <a:pt x="121793" y="0"/>
                    <a:pt x="271907" y="0"/>
                  </a:cubicBezTo>
                  <a:lnTo>
                    <a:pt x="14995018" y="0"/>
                  </a:lnTo>
                  <a:cubicBezTo>
                    <a:pt x="15145131" y="0"/>
                    <a:pt x="15266924" y="121793"/>
                    <a:pt x="15266924" y="271907"/>
                  </a:cubicBezTo>
                  <a:lnTo>
                    <a:pt x="15266924" y="2447163"/>
                  </a:lnTo>
                  <a:cubicBezTo>
                    <a:pt x="15266924" y="2597277"/>
                    <a:pt x="15145131" y="2719070"/>
                    <a:pt x="14995018" y="2719070"/>
                  </a:cubicBezTo>
                  <a:lnTo>
                    <a:pt x="271907" y="2719070"/>
                  </a:lnTo>
                  <a:cubicBezTo>
                    <a:pt x="121793" y="2719070"/>
                    <a:pt x="0" y="2597404"/>
                    <a:pt x="0" y="244716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2A7DB">
                    <a:alpha val="100000"/>
                  </a:srgbClr>
                </a:gs>
                <a:gs pos="50000">
                  <a:srgbClr val="559BDB">
                    <a:alpha val="100000"/>
                  </a:srgbClr>
                </a:gs>
                <a:gs pos="100000">
                  <a:srgbClr val="448AC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670756" y="4804719"/>
            <a:ext cx="8965785" cy="2012823"/>
            <a:chOff x="0" y="0"/>
            <a:chExt cx="11954380" cy="26837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54380" cy="2683764"/>
            </a:xfrm>
            <a:custGeom>
              <a:avLst/>
              <a:gdLst/>
              <a:ahLst/>
              <a:cxnLst/>
              <a:rect r="r" b="b" t="t" l="l"/>
              <a:pathLst>
                <a:path h="2683764" w="11954380">
                  <a:moveTo>
                    <a:pt x="0" y="0"/>
                  </a:moveTo>
                  <a:lnTo>
                    <a:pt x="11954380" y="0"/>
                  </a:lnTo>
                  <a:lnTo>
                    <a:pt x="11954380" y="2683764"/>
                  </a:lnTo>
                  <a:lnTo>
                    <a:pt x="0" y="2683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894" r="0" b="-8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32080" y="93980"/>
              <a:ext cx="11690220" cy="2457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Nicolás Llanos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Mockups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Documentación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85470" y="5013414"/>
            <a:ext cx="2290047" cy="1631457"/>
            <a:chOff x="0" y="0"/>
            <a:chExt cx="3053396" cy="21752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53461" cy="2175256"/>
            </a:xfrm>
            <a:custGeom>
              <a:avLst/>
              <a:gdLst/>
              <a:ahLst/>
              <a:cxnLst/>
              <a:rect r="r" b="b" t="t" l="l"/>
              <a:pathLst>
                <a:path h="2175256" w="3053461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835910" y="0"/>
                  </a:lnTo>
                  <a:cubicBezTo>
                    <a:pt x="2956052" y="0"/>
                    <a:pt x="3053461" y="97409"/>
                    <a:pt x="3053461" y="217551"/>
                  </a:cubicBezTo>
                  <a:lnTo>
                    <a:pt x="3053461" y="1957705"/>
                  </a:lnTo>
                  <a:cubicBezTo>
                    <a:pt x="3053461" y="2077847"/>
                    <a:pt x="2956052" y="2175256"/>
                    <a:pt x="2835910" y="2175256"/>
                  </a:cubicBezTo>
                  <a:lnTo>
                    <a:pt x="217551" y="2175256"/>
                  </a:lnTo>
                  <a:cubicBezTo>
                    <a:pt x="97409" y="2175256"/>
                    <a:pt x="0" y="2077847"/>
                    <a:pt x="0" y="1957705"/>
                  </a:cubicBezTo>
                  <a:close/>
                </a:path>
              </a:pathLst>
            </a:custGeom>
            <a:solidFill>
              <a:srgbClr val="C4D5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181539" y="7052736"/>
            <a:ext cx="11450241" cy="2039322"/>
            <a:chOff x="0" y="0"/>
            <a:chExt cx="15266988" cy="2719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66924" cy="2719070"/>
            </a:xfrm>
            <a:custGeom>
              <a:avLst/>
              <a:gdLst/>
              <a:ahLst/>
              <a:cxnLst/>
              <a:rect r="r" b="b" t="t" l="l"/>
              <a:pathLst>
                <a:path h="2719070" w="15266924">
                  <a:moveTo>
                    <a:pt x="0" y="271907"/>
                  </a:moveTo>
                  <a:cubicBezTo>
                    <a:pt x="0" y="121793"/>
                    <a:pt x="121793" y="0"/>
                    <a:pt x="271907" y="0"/>
                  </a:cubicBezTo>
                  <a:lnTo>
                    <a:pt x="14995018" y="0"/>
                  </a:lnTo>
                  <a:cubicBezTo>
                    <a:pt x="15145131" y="0"/>
                    <a:pt x="15266924" y="121793"/>
                    <a:pt x="15266924" y="271907"/>
                  </a:cubicBezTo>
                  <a:lnTo>
                    <a:pt x="15266924" y="2447163"/>
                  </a:lnTo>
                  <a:cubicBezTo>
                    <a:pt x="15266924" y="2597277"/>
                    <a:pt x="15145131" y="2719070"/>
                    <a:pt x="14995018" y="2719070"/>
                  </a:cubicBezTo>
                  <a:lnTo>
                    <a:pt x="271907" y="2719070"/>
                  </a:lnTo>
                  <a:cubicBezTo>
                    <a:pt x="121793" y="2719070"/>
                    <a:pt x="0" y="2597404"/>
                    <a:pt x="0" y="244716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2A7DB">
                    <a:alpha val="100000"/>
                  </a:srgbClr>
                </a:gs>
                <a:gs pos="50000">
                  <a:srgbClr val="559BDB">
                    <a:alpha val="100000"/>
                  </a:srgbClr>
                </a:gs>
                <a:gs pos="100000">
                  <a:srgbClr val="448AC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670756" y="7047973"/>
            <a:ext cx="8965785" cy="2012823"/>
            <a:chOff x="0" y="0"/>
            <a:chExt cx="11954380" cy="26837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54380" cy="2683764"/>
            </a:xfrm>
            <a:custGeom>
              <a:avLst/>
              <a:gdLst/>
              <a:ahLst/>
              <a:cxnLst/>
              <a:rect r="r" b="b" t="t" l="l"/>
              <a:pathLst>
                <a:path h="2683764" w="11954380">
                  <a:moveTo>
                    <a:pt x="0" y="0"/>
                  </a:moveTo>
                  <a:lnTo>
                    <a:pt x="11954380" y="0"/>
                  </a:lnTo>
                  <a:lnTo>
                    <a:pt x="11954380" y="2683764"/>
                  </a:lnTo>
                  <a:lnTo>
                    <a:pt x="0" y="2683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894" r="0" b="-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32080" y="93980"/>
              <a:ext cx="11690220" cy="24577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Michelle Morales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</a:t>
              </a: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rontend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Mockups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Documentación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85470" y="7256668"/>
            <a:ext cx="2290047" cy="1631457"/>
            <a:chOff x="0" y="0"/>
            <a:chExt cx="3053396" cy="21752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53461" cy="2175256"/>
            </a:xfrm>
            <a:custGeom>
              <a:avLst/>
              <a:gdLst/>
              <a:ahLst/>
              <a:cxnLst/>
              <a:rect r="r" b="b" t="t" l="l"/>
              <a:pathLst>
                <a:path h="2175256" w="3053461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835910" y="0"/>
                  </a:lnTo>
                  <a:cubicBezTo>
                    <a:pt x="2956052" y="0"/>
                    <a:pt x="3053461" y="97409"/>
                    <a:pt x="3053461" y="217551"/>
                  </a:cubicBezTo>
                  <a:lnTo>
                    <a:pt x="3053461" y="1957705"/>
                  </a:lnTo>
                  <a:cubicBezTo>
                    <a:pt x="3053461" y="2077847"/>
                    <a:pt x="2956052" y="2175256"/>
                    <a:pt x="2835910" y="2175256"/>
                  </a:cubicBezTo>
                  <a:lnTo>
                    <a:pt x="217551" y="2175256"/>
                  </a:lnTo>
                  <a:cubicBezTo>
                    <a:pt x="97409" y="2175256"/>
                    <a:pt x="0" y="2077847"/>
                    <a:pt x="0" y="1957705"/>
                  </a:cubicBezTo>
                  <a:close/>
                </a:path>
              </a:pathLst>
            </a:custGeom>
            <a:solidFill>
              <a:srgbClr val="C4D5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AutoShape 25" id="25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6916058" y="5143500"/>
            <a:ext cx="1228872" cy="1489542"/>
          </a:xfrm>
          <a:custGeom>
            <a:avLst/>
            <a:gdLst/>
            <a:ahLst/>
            <a:cxnLst/>
            <a:rect r="r" b="b" t="t" l="l"/>
            <a:pathLst>
              <a:path h="1489542" w="1228872">
                <a:moveTo>
                  <a:pt x="0" y="0"/>
                </a:moveTo>
                <a:lnTo>
                  <a:pt x="1228872" y="0"/>
                </a:lnTo>
                <a:lnTo>
                  <a:pt x="1228872" y="1489542"/>
                </a:lnTo>
                <a:lnTo>
                  <a:pt x="0" y="1489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916058" y="7382204"/>
            <a:ext cx="1228872" cy="1489542"/>
          </a:xfrm>
          <a:custGeom>
            <a:avLst/>
            <a:gdLst/>
            <a:ahLst/>
            <a:cxnLst/>
            <a:rect r="r" b="b" t="t" l="l"/>
            <a:pathLst>
              <a:path h="1489542" w="1228872">
                <a:moveTo>
                  <a:pt x="0" y="0"/>
                </a:moveTo>
                <a:lnTo>
                  <a:pt x="1228872" y="0"/>
                </a:lnTo>
                <a:lnTo>
                  <a:pt x="1228872" y="1489541"/>
                </a:lnTo>
                <a:lnTo>
                  <a:pt x="0" y="1489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916058" y="2900840"/>
            <a:ext cx="1228872" cy="1489542"/>
          </a:xfrm>
          <a:custGeom>
            <a:avLst/>
            <a:gdLst/>
            <a:ahLst/>
            <a:cxnLst/>
            <a:rect r="r" b="b" t="t" l="l"/>
            <a:pathLst>
              <a:path h="1489542" w="1228872">
                <a:moveTo>
                  <a:pt x="0" y="0"/>
                </a:moveTo>
                <a:lnTo>
                  <a:pt x="1228872" y="0"/>
                </a:lnTo>
                <a:lnTo>
                  <a:pt x="1228872" y="1489542"/>
                </a:lnTo>
                <a:lnTo>
                  <a:pt x="0" y="14895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724229" y="6342698"/>
            <a:ext cx="2679964" cy="2288019"/>
          </a:xfrm>
          <a:custGeom>
            <a:avLst/>
            <a:gdLst/>
            <a:ahLst/>
            <a:cxnLst/>
            <a:rect r="r" b="b" t="t" l="l"/>
            <a:pathLst>
              <a:path h="2288019" w="2679964">
                <a:moveTo>
                  <a:pt x="0" y="0"/>
                </a:moveTo>
                <a:lnTo>
                  <a:pt x="2679964" y="0"/>
                </a:lnTo>
                <a:lnTo>
                  <a:pt x="2679964" y="2288018"/>
                </a:lnTo>
                <a:lnTo>
                  <a:pt x="0" y="22880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Proyetco</a:t>
            </a: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 “Gestión de Camiones”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8930" y="4519344"/>
            <a:ext cx="5230562" cy="182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INTEGRANTES DEL PROYECTO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345695" y="4298950"/>
            <a:ext cx="7315200" cy="1689100"/>
          </a:xfrm>
          <a:custGeom>
            <a:avLst/>
            <a:gdLst/>
            <a:ahLst/>
            <a:cxnLst/>
            <a:rect r="r" b="b" t="t" l="l"/>
            <a:pathLst>
              <a:path h="1689100" w="7315200">
                <a:moveTo>
                  <a:pt x="0" y="0"/>
                </a:moveTo>
                <a:lnTo>
                  <a:pt x="7315200" y="0"/>
                </a:lnTo>
                <a:lnTo>
                  <a:pt x="7315200" y="1689100"/>
                </a:lnTo>
                <a:lnTo>
                  <a:pt x="0" y="168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Proyetco “Gestión de Camiones”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01193"/>
            <a:ext cx="80702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Contexto de la empresa: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6201" y="4222750"/>
            <a:ext cx="8150797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0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</a:t>
            </a:r>
            <a:r>
              <a:rPr lang="en-US" sz="400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taller de PepsiCo mueve muchos vehículos a diario, pero su gestión sigue siendo manual, lo que genera desorden, poca trazabilidad y problemas de coordinación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471315">
            <a:off x="11342257" y="7809301"/>
            <a:ext cx="1520860" cy="1529201"/>
          </a:xfrm>
          <a:custGeom>
            <a:avLst/>
            <a:gdLst/>
            <a:ahLst/>
            <a:cxnLst/>
            <a:rect r="r" b="b" t="t" l="l"/>
            <a:pathLst>
              <a:path h="1529201" w="1520860">
                <a:moveTo>
                  <a:pt x="0" y="0"/>
                </a:moveTo>
                <a:lnTo>
                  <a:pt x="1520860" y="0"/>
                </a:lnTo>
                <a:lnTo>
                  <a:pt x="1520860" y="1529201"/>
                </a:lnTo>
                <a:lnTo>
                  <a:pt x="0" y="1529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47750" y="3622039"/>
            <a:ext cx="1311550" cy="1802818"/>
          </a:xfrm>
          <a:custGeom>
            <a:avLst/>
            <a:gdLst/>
            <a:ahLst/>
            <a:cxnLst/>
            <a:rect r="r" b="b" t="t" l="l"/>
            <a:pathLst>
              <a:path h="1802818" w="1311550">
                <a:moveTo>
                  <a:pt x="0" y="0"/>
                </a:moveTo>
                <a:lnTo>
                  <a:pt x="1311550" y="0"/>
                </a:lnTo>
                <a:lnTo>
                  <a:pt x="1311550" y="1802818"/>
                </a:lnTo>
                <a:lnTo>
                  <a:pt x="0" y="18028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05440" y="6330013"/>
            <a:ext cx="2116904" cy="2419319"/>
          </a:xfrm>
          <a:custGeom>
            <a:avLst/>
            <a:gdLst/>
            <a:ahLst/>
            <a:cxnLst/>
            <a:rect r="r" b="b" t="t" l="l"/>
            <a:pathLst>
              <a:path h="2419319" w="2116904">
                <a:moveTo>
                  <a:pt x="0" y="0"/>
                </a:moveTo>
                <a:lnTo>
                  <a:pt x="2116905" y="0"/>
                </a:lnTo>
                <a:lnTo>
                  <a:pt x="2116905" y="2419319"/>
                </a:lnTo>
                <a:lnTo>
                  <a:pt x="0" y="24193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02293" y="1851693"/>
            <a:ext cx="3188494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29313" y="3823368"/>
            <a:ext cx="9028915" cy="3126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351" indent="-434175" lvl="1">
              <a:lnSpc>
                <a:spcPts val="4826"/>
              </a:lnSpc>
              <a:buFont typeface="Arial"/>
              <a:buChar char="•"/>
            </a:pPr>
            <a:r>
              <a:rPr lang="en-US" sz="40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Falta de un sistema centralizado.</a:t>
            </a:r>
          </a:p>
          <a:p>
            <a:pPr algn="l" marL="868351" indent="-434175" lvl="1">
              <a:lnSpc>
                <a:spcPts val="4826"/>
              </a:lnSpc>
              <a:buFont typeface="Arial"/>
              <a:buChar char="•"/>
            </a:pPr>
            <a:r>
              <a:rPr lang="en-US" sz="40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Errores por registros manuales.</a:t>
            </a:r>
          </a:p>
          <a:p>
            <a:pPr algn="l" marL="868351" indent="-434175" lvl="1">
              <a:lnSpc>
                <a:spcPts val="4826"/>
              </a:lnSpc>
              <a:buFont typeface="Arial"/>
              <a:buChar char="•"/>
            </a:pPr>
            <a:r>
              <a:rPr lang="en-US" sz="40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Mala coordinación entre áreas.</a:t>
            </a:r>
          </a:p>
          <a:p>
            <a:pPr algn="l" marL="868351" indent="-434175" lvl="1">
              <a:lnSpc>
                <a:spcPts val="4826"/>
              </a:lnSpc>
              <a:buFont typeface="Arial"/>
              <a:buChar char="•"/>
            </a:pPr>
            <a:r>
              <a:rPr lang="en-US" sz="40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 trazabilidad del estado del vehículo.</a:t>
            </a:r>
          </a:p>
          <a:p>
            <a:pPr algn="l" marL="868351" indent="-434175" lvl="1">
              <a:lnSpc>
                <a:spcPts val="4826"/>
              </a:lnSpc>
              <a:buFont typeface="Arial"/>
              <a:buChar char="•"/>
            </a:pPr>
            <a:r>
              <a:rPr lang="en-US" sz="40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Reportes poco confiables.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Proyetco</a:t>
            </a: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 “Gestión de Camiones”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354309" y="4957665"/>
            <a:ext cx="3242609" cy="3222343"/>
          </a:xfrm>
          <a:custGeom>
            <a:avLst/>
            <a:gdLst/>
            <a:ahLst/>
            <a:cxnLst/>
            <a:rect r="r" b="b" t="t" l="l"/>
            <a:pathLst>
              <a:path h="3222343" w="3242609">
                <a:moveTo>
                  <a:pt x="0" y="0"/>
                </a:moveTo>
                <a:lnTo>
                  <a:pt x="3242609" y="0"/>
                </a:lnTo>
                <a:lnTo>
                  <a:pt x="3242609" y="3222343"/>
                </a:lnTo>
                <a:lnTo>
                  <a:pt x="0" y="322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54826">
            <a:off x="2021507" y="2627241"/>
            <a:ext cx="1634174" cy="2351330"/>
          </a:xfrm>
          <a:custGeom>
            <a:avLst/>
            <a:gdLst/>
            <a:ahLst/>
            <a:cxnLst/>
            <a:rect r="r" b="b" t="t" l="l"/>
            <a:pathLst>
              <a:path h="2351330" w="1634174">
                <a:moveTo>
                  <a:pt x="0" y="0"/>
                </a:moveTo>
                <a:lnTo>
                  <a:pt x="1634174" y="0"/>
                </a:lnTo>
                <a:lnTo>
                  <a:pt x="1634174" y="2351330"/>
                </a:lnTo>
                <a:lnTo>
                  <a:pt x="0" y="23513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46694" y="1977685"/>
            <a:ext cx="6538764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Solución Propuesta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69858" y="4139861"/>
            <a:ext cx="10089442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nifica y digitaliza el flujo  del taller, permitiendo gestionar ingresos, agendas, pausas, documentos y reportes desde un mismo sistema.</a:t>
            </a:r>
          </a:p>
          <a:p>
            <a:pPr algn="r">
              <a:lnSpc>
                <a:spcPts val="3719"/>
              </a:lnSpc>
              <a:spcBef>
                <a:spcPct val="0"/>
              </a:spcBef>
            </a:pPr>
          </a:p>
          <a:p>
            <a:pPr algn="r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Mejora la coordinación entre los roles, reduce errores operativos y ofrece trazabilidad en cada etapa del proceso para una gestión más ordenada y eficiente.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Proyetco</a:t>
            </a: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 “Gestión de Camiones”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552180" y="7897330"/>
            <a:ext cx="4775429" cy="1606281"/>
          </a:xfrm>
          <a:custGeom>
            <a:avLst/>
            <a:gdLst/>
            <a:ahLst/>
            <a:cxnLst/>
            <a:rect r="r" b="b" t="t" l="l"/>
            <a:pathLst>
              <a:path h="1606281" w="4775429">
                <a:moveTo>
                  <a:pt x="0" y="0"/>
                </a:moveTo>
                <a:lnTo>
                  <a:pt x="4775429" y="0"/>
                </a:lnTo>
                <a:lnTo>
                  <a:pt x="4775429" y="1606281"/>
                </a:lnTo>
                <a:lnTo>
                  <a:pt x="0" y="16062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60900" y="5242595"/>
            <a:ext cx="2009437" cy="2343367"/>
          </a:xfrm>
          <a:custGeom>
            <a:avLst/>
            <a:gdLst/>
            <a:ahLst/>
            <a:cxnLst/>
            <a:rect r="r" b="b" t="t" l="l"/>
            <a:pathLst>
              <a:path h="2343367" w="2009437">
                <a:moveTo>
                  <a:pt x="0" y="0"/>
                </a:moveTo>
                <a:lnTo>
                  <a:pt x="2009437" y="0"/>
                </a:lnTo>
                <a:lnTo>
                  <a:pt x="2009437" y="2343366"/>
                </a:lnTo>
                <a:lnTo>
                  <a:pt x="0" y="2343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24270" y="3823478"/>
            <a:ext cx="11903325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232A35"/>
                </a:solidFill>
                <a:latin typeface="Nunito"/>
                <a:ea typeface="Nunito"/>
                <a:cs typeface="Nunito"/>
                <a:sym typeface="Nunito"/>
              </a:rPr>
              <a:t>Se utilizo la </a:t>
            </a:r>
            <a:r>
              <a:rPr lang="en-US" sz="2999" b="true">
                <a:solidFill>
                  <a:srgbClr val="232A35"/>
                </a:solidFill>
                <a:latin typeface="Nunito Bold"/>
                <a:ea typeface="Nunito Bold"/>
                <a:cs typeface="Nunito Bold"/>
                <a:sym typeface="Nunito Bold"/>
              </a:rPr>
              <a:t>metodología SCRUM</a:t>
            </a:r>
            <a:r>
              <a:rPr lang="en-US" sz="2999">
                <a:solidFill>
                  <a:srgbClr val="232A35"/>
                </a:solidFill>
                <a:latin typeface="Nunito"/>
                <a:ea typeface="Nunito"/>
                <a:cs typeface="Nunito"/>
                <a:sym typeface="Nunito"/>
              </a:rPr>
              <a:t>, trabajando mediante sprints, levantando las historias de usuario  y validando cada avance.</a:t>
            </a:r>
          </a:p>
          <a:p>
            <a:pPr algn="ctr">
              <a:lnSpc>
                <a:spcPts val="4199"/>
              </a:lnSpc>
            </a:pP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232A35"/>
                </a:solidFill>
                <a:latin typeface="Nunito"/>
                <a:ea typeface="Nunito"/>
                <a:cs typeface="Nunito"/>
                <a:sym typeface="Nunito"/>
              </a:rPr>
              <a:t> Se construyeron mockups, frontend en HTML/CSS/JS y backend en Django, integrando los módulos principales de operación del taller.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677269" y="8142642"/>
            <a:ext cx="3146729" cy="1115658"/>
          </a:xfrm>
          <a:custGeom>
            <a:avLst/>
            <a:gdLst/>
            <a:ahLst/>
            <a:cxnLst/>
            <a:rect r="r" b="b" t="t" l="l"/>
            <a:pathLst>
              <a:path h="1115658" w="3146729">
                <a:moveTo>
                  <a:pt x="0" y="0"/>
                </a:moveTo>
                <a:lnTo>
                  <a:pt x="3146729" y="0"/>
                </a:lnTo>
                <a:lnTo>
                  <a:pt x="3146729" y="1115658"/>
                </a:lnTo>
                <a:lnTo>
                  <a:pt x="0" y="1115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5982" y="5626049"/>
            <a:ext cx="1996916" cy="1996916"/>
          </a:xfrm>
          <a:custGeom>
            <a:avLst/>
            <a:gdLst/>
            <a:ahLst/>
            <a:cxnLst/>
            <a:rect r="r" b="b" t="t" l="l"/>
            <a:pathLst>
              <a:path h="1996916" w="1996916">
                <a:moveTo>
                  <a:pt x="0" y="0"/>
                </a:moveTo>
                <a:lnTo>
                  <a:pt x="1996915" y="0"/>
                </a:lnTo>
                <a:lnTo>
                  <a:pt x="1996915" y="1996916"/>
                </a:lnTo>
                <a:lnTo>
                  <a:pt x="0" y="19969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07753" y="1886137"/>
            <a:ext cx="7132141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omo se llevo a cabo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Proyetco</a:t>
            </a: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 “Gestión de Camiones”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564143"/>
            <a:ext cx="587214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 General</a:t>
            </a:r>
          </a:p>
        </p:txBody>
      </p:sp>
      <p:sp>
        <p:nvSpPr>
          <p:cNvPr name="AutoShape 5" id="5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848814" y="1564143"/>
            <a:ext cx="587214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6689" y="3789397"/>
            <a:ext cx="6900847" cy="387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  <a:spcBef>
                <a:spcPct val="0"/>
              </a:spcBef>
            </a:pPr>
            <a:r>
              <a:rPr lang="en-US" sz="35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Digitalizar y centralizar los procesos operativos del taller de PepsiCo Santa Marta mediante un sistema web que entregue trazabilidad, orden y eficiencia en el flujo de ingreso, mantención y salida de los vehículos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848814" y="3341467"/>
            <a:ext cx="975126" cy="524130"/>
          </a:xfrm>
          <a:custGeom>
            <a:avLst/>
            <a:gdLst/>
            <a:ahLst/>
            <a:cxnLst/>
            <a:rect r="r" b="b" t="t" l="l"/>
            <a:pathLst>
              <a:path h="524130" w="975126">
                <a:moveTo>
                  <a:pt x="0" y="0"/>
                </a:moveTo>
                <a:lnTo>
                  <a:pt x="975125" y="0"/>
                </a:lnTo>
                <a:lnTo>
                  <a:pt x="975125" y="524130"/>
                </a:lnTo>
                <a:lnTo>
                  <a:pt x="0" y="524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848814" y="4385297"/>
            <a:ext cx="975126" cy="524130"/>
          </a:xfrm>
          <a:custGeom>
            <a:avLst/>
            <a:gdLst/>
            <a:ahLst/>
            <a:cxnLst/>
            <a:rect r="r" b="b" t="t" l="l"/>
            <a:pathLst>
              <a:path h="524130" w="975126">
                <a:moveTo>
                  <a:pt x="0" y="0"/>
                </a:moveTo>
                <a:lnTo>
                  <a:pt x="975125" y="0"/>
                </a:lnTo>
                <a:lnTo>
                  <a:pt x="975125" y="524130"/>
                </a:lnTo>
                <a:lnTo>
                  <a:pt x="0" y="524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9804969" y="3107193"/>
            <a:ext cx="1214008" cy="571369"/>
            <a:chOff x="0" y="0"/>
            <a:chExt cx="1295239" cy="60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5239" cy="609600"/>
            </a:xfrm>
            <a:custGeom>
              <a:avLst/>
              <a:gdLst/>
              <a:ahLst/>
              <a:cxnLst/>
              <a:rect r="r" b="b" t="t" l="l"/>
              <a:pathLst>
                <a:path h="609600" w="1295239">
                  <a:moveTo>
                    <a:pt x="203200" y="0"/>
                  </a:moveTo>
                  <a:lnTo>
                    <a:pt x="1295239" y="0"/>
                  </a:lnTo>
                  <a:lnTo>
                    <a:pt x="10920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4A4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9525"/>
              <a:ext cx="1092039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04969" y="4155800"/>
            <a:ext cx="1214008" cy="571369"/>
            <a:chOff x="0" y="0"/>
            <a:chExt cx="1295239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5239" cy="609600"/>
            </a:xfrm>
            <a:custGeom>
              <a:avLst/>
              <a:gdLst/>
              <a:ahLst/>
              <a:cxnLst/>
              <a:rect r="r" b="b" t="t" l="l"/>
              <a:pathLst>
                <a:path h="609600" w="1295239">
                  <a:moveTo>
                    <a:pt x="203200" y="0"/>
                  </a:moveTo>
                  <a:lnTo>
                    <a:pt x="1295239" y="0"/>
                  </a:lnTo>
                  <a:lnTo>
                    <a:pt x="10920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4A4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9525"/>
              <a:ext cx="1092039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848814" y="5572685"/>
            <a:ext cx="975126" cy="524130"/>
          </a:xfrm>
          <a:custGeom>
            <a:avLst/>
            <a:gdLst/>
            <a:ahLst/>
            <a:cxnLst/>
            <a:rect r="r" b="b" t="t" l="l"/>
            <a:pathLst>
              <a:path h="524130" w="975126">
                <a:moveTo>
                  <a:pt x="0" y="0"/>
                </a:moveTo>
                <a:lnTo>
                  <a:pt x="975125" y="0"/>
                </a:lnTo>
                <a:lnTo>
                  <a:pt x="975125" y="524130"/>
                </a:lnTo>
                <a:lnTo>
                  <a:pt x="0" y="524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9804969" y="5340823"/>
            <a:ext cx="1214008" cy="571369"/>
            <a:chOff x="0" y="0"/>
            <a:chExt cx="1295239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5239" cy="609600"/>
            </a:xfrm>
            <a:custGeom>
              <a:avLst/>
              <a:gdLst/>
              <a:ahLst/>
              <a:cxnLst/>
              <a:rect r="r" b="b" t="t" l="l"/>
              <a:pathLst>
                <a:path h="609600" w="1295239">
                  <a:moveTo>
                    <a:pt x="203200" y="0"/>
                  </a:moveTo>
                  <a:lnTo>
                    <a:pt x="1295239" y="0"/>
                  </a:lnTo>
                  <a:lnTo>
                    <a:pt x="10920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4A4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9525"/>
              <a:ext cx="1092039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848814" y="6761499"/>
            <a:ext cx="975126" cy="524130"/>
          </a:xfrm>
          <a:custGeom>
            <a:avLst/>
            <a:gdLst/>
            <a:ahLst/>
            <a:cxnLst/>
            <a:rect r="r" b="b" t="t" l="l"/>
            <a:pathLst>
              <a:path h="524130" w="975126">
                <a:moveTo>
                  <a:pt x="0" y="0"/>
                </a:moveTo>
                <a:lnTo>
                  <a:pt x="975125" y="0"/>
                </a:lnTo>
                <a:lnTo>
                  <a:pt x="975125" y="524130"/>
                </a:lnTo>
                <a:lnTo>
                  <a:pt x="0" y="524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0">
            <a:off x="9804969" y="6528212"/>
            <a:ext cx="1214008" cy="571369"/>
            <a:chOff x="0" y="0"/>
            <a:chExt cx="1295239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5239" cy="609600"/>
            </a:xfrm>
            <a:custGeom>
              <a:avLst/>
              <a:gdLst/>
              <a:ahLst/>
              <a:cxnLst/>
              <a:rect r="r" b="b" t="t" l="l"/>
              <a:pathLst>
                <a:path h="609600" w="1295239">
                  <a:moveTo>
                    <a:pt x="203200" y="0"/>
                  </a:moveTo>
                  <a:lnTo>
                    <a:pt x="1295239" y="0"/>
                  </a:lnTo>
                  <a:lnTo>
                    <a:pt x="10920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4A4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9525"/>
              <a:ext cx="1092039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163551" y="3236953"/>
            <a:ext cx="4264633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232A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Registrar ingresos con evidencia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72258" y="3236953"/>
            <a:ext cx="679431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63551" y="4285559"/>
            <a:ext cx="4264633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232A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Gestionar agendas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72258" y="4285559"/>
            <a:ext cx="679431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63551" y="5470583"/>
            <a:ext cx="4264633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232A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Controlar pausas y documentos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72258" y="5470583"/>
            <a:ext cx="679431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63551" y="6657971"/>
            <a:ext cx="3618054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232A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Autorizar salidas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72258" y="6657971"/>
            <a:ext cx="679431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848814" y="7950314"/>
            <a:ext cx="975126" cy="524130"/>
          </a:xfrm>
          <a:custGeom>
            <a:avLst/>
            <a:gdLst/>
            <a:ahLst/>
            <a:cxnLst/>
            <a:rect r="r" b="b" t="t" l="l"/>
            <a:pathLst>
              <a:path h="524130" w="975126">
                <a:moveTo>
                  <a:pt x="0" y="0"/>
                </a:moveTo>
                <a:lnTo>
                  <a:pt x="975125" y="0"/>
                </a:lnTo>
                <a:lnTo>
                  <a:pt x="975125" y="524130"/>
                </a:lnTo>
                <a:lnTo>
                  <a:pt x="0" y="524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3" id="33"/>
          <p:cNvGrpSpPr/>
          <p:nvPr/>
        </p:nvGrpSpPr>
        <p:grpSpPr>
          <a:xfrm rot="0">
            <a:off x="9804969" y="7717026"/>
            <a:ext cx="1214008" cy="571369"/>
            <a:chOff x="0" y="0"/>
            <a:chExt cx="1295239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95239" cy="609600"/>
            </a:xfrm>
            <a:custGeom>
              <a:avLst/>
              <a:gdLst/>
              <a:ahLst/>
              <a:cxnLst/>
              <a:rect r="r" b="b" t="t" l="l"/>
              <a:pathLst>
                <a:path h="609600" w="1295239">
                  <a:moveTo>
                    <a:pt x="203200" y="0"/>
                  </a:moveTo>
                  <a:lnTo>
                    <a:pt x="1295239" y="0"/>
                  </a:lnTo>
                  <a:lnTo>
                    <a:pt x="10920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4A4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01600" y="-9525"/>
              <a:ext cx="1092039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1163551" y="7846786"/>
            <a:ext cx="3618054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232A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Generar reportes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72258" y="7846786"/>
            <a:ext cx="679431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848814" y="8998264"/>
            <a:ext cx="975126" cy="524130"/>
          </a:xfrm>
          <a:custGeom>
            <a:avLst/>
            <a:gdLst/>
            <a:ahLst/>
            <a:cxnLst/>
            <a:rect r="r" b="b" t="t" l="l"/>
            <a:pathLst>
              <a:path h="524130" w="975126">
                <a:moveTo>
                  <a:pt x="0" y="0"/>
                </a:moveTo>
                <a:lnTo>
                  <a:pt x="975125" y="0"/>
                </a:lnTo>
                <a:lnTo>
                  <a:pt x="975125" y="524130"/>
                </a:lnTo>
                <a:lnTo>
                  <a:pt x="0" y="524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9" id="39"/>
          <p:cNvGrpSpPr/>
          <p:nvPr/>
        </p:nvGrpSpPr>
        <p:grpSpPr>
          <a:xfrm rot="0">
            <a:off x="9804969" y="8764976"/>
            <a:ext cx="1214008" cy="571369"/>
            <a:chOff x="0" y="0"/>
            <a:chExt cx="1295239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95239" cy="609600"/>
            </a:xfrm>
            <a:custGeom>
              <a:avLst/>
              <a:gdLst/>
              <a:ahLst/>
              <a:cxnLst/>
              <a:rect r="r" b="b" t="t" l="l"/>
              <a:pathLst>
                <a:path h="609600" w="1295239">
                  <a:moveTo>
                    <a:pt x="203200" y="0"/>
                  </a:moveTo>
                  <a:lnTo>
                    <a:pt x="1295239" y="0"/>
                  </a:lnTo>
                  <a:lnTo>
                    <a:pt x="109203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4A4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01600" y="-9525"/>
              <a:ext cx="1092039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163551" y="8894736"/>
            <a:ext cx="3618054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232A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Trabajar por roles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72258" y="8894736"/>
            <a:ext cx="679431" cy="30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4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Proyetco</a:t>
            </a: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 “Gestión de Camiones”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338990" y="6006410"/>
            <a:ext cx="3050729" cy="1639767"/>
          </a:xfrm>
          <a:custGeom>
            <a:avLst/>
            <a:gdLst/>
            <a:ahLst/>
            <a:cxnLst/>
            <a:rect r="r" b="b" t="t" l="l"/>
            <a:pathLst>
              <a:path h="1639767" w="3050729">
                <a:moveTo>
                  <a:pt x="0" y="0"/>
                </a:moveTo>
                <a:lnTo>
                  <a:pt x="3050729" y="0"/>
                </a:lnTo>
                <a:lnTo>
                  <a:pt x="3050729" y="1639767"/>
                </a:lnTo>
                <a:lnTo>
                  <a:pt x="0" y="1639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996777" y="6006410"/>
            <a:ext cx="3050729" cy="1639767"/>
          </a:xfrm>
          <a:custGeom>
            <a:avLst/>
            <a:gdLst/>
            <a:ahLst/>
            <a:cxnLst/>
            <a:rect r="r" b="b" t="t" l="l"/>
            <a:pathLst>
              <a:path h="1639767" w="3050729">
                <a:moveTo>
                  <a:pt x="0" y="0"/>
                </a:moveTo>
                <a:lnTo>
                  <a:pt x="3050729" y="0"/>
                </a:lnTo>
                <a:lnTo>
                  <a:pt x="3050729" y="1639767"/>
                </a:lnTo>
                <a:lnTo>
                  <a:pt x="0" y="1639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654565" y="6006410"/>
            <a:ext cx="3050729" cy="1639767"/>
          </a:xfrm>
          <a:custGeom>
            <a:avLst/>
            <a:gdLst/>
            <a:ahLst/>
            <a:cxnLst/>
            <a:rect r="r" b="b" t="t" l="l"/>
            <a:pathLst>
              <a:path h="1639767" w="3050729">
                <a:moveTo>
                  <a:pt x="0" y="0"/>
                </a:moveTo>
                <a:lnTo>
                  <a:pt x="3050729" y="0"/>
                </a:lnTo>
                <a:lnTo>
                  <a:pt x="3050729" y="1639767"/>
                </a:lnTo>
                <a:lnTo>
                  <a:pt x="0" y="1639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028700" y="5062303"/>
            <a:ext cx="2037044" cy="1527783"/>
            <a:chOff x="0" y="0"/>
            <a:chExt cx="8128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B4A4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9525"/>
              <a:ext cx="609600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562083" y="5062303"/>
            <a:ext cx="2037044" cy="1527783"/>
            <a:chOff x="0" y="0"/>
            <a:chExt cx="8128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B4A4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9525"/>
              <a:ext cx="609600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95467" y="5062303"/>
            <a:ext cx="2037044" cy="1527783"/>
            <a:chOff x="0" y="0"/>
            <a:chExt cx="8128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60960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812800" y="60960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4B4A4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9525"/>
              <a:ext cx="609600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132511" y="4025462"/>
            <a:ext cx="2810548" cy="2564625"/>
          </a:xfrm>
          <a:custGeom>
            <a:avLst/>
            <a:gdLst/>
            <a:ahLst/>
            <a:cxnLst/>
            <a:rect r="r" b="b" t="t" l="l"/>
            <a:pathLst>
              <a:path h="2564625" w="2810548">
                <a:moveTo>
                  <a:pt x="0" y="0"/>
                </a:moveTo>
                <a:lnTo>
                  <a:pt x="2810547" y="0"/>
                </a:lnTo>
                <a:lnTo>
                  <a:pt x="2810547" y="2564624"/>
                </a:lnTo>
                <a:lnTo>
                  <a:pt x="0" y="2564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204751" y="4791308"/>
            <a:ext cx="3112727" cy="1396836"/>
          </a:xfrm>
          <a:custGeom>
            <a:avLst/>
            <a:gdLst/>
            <a:ahLst/>
            <a:cxnLst/>
            <a:rect r="r" b="b" t="t" l="l"/>
            <a:pathLst>
              <a:path h="1396836" w="3112727">
                <a:moveTo>
                  <a:pt x="0" y="0"/>
                </a:moveTo>
                <a:lnTo>
                  <a:pt x="3112727" y="0"/>
                </a:lnTo>
                <a:lnTo>
                  <a:pt x="3112727" y="1396837"/>
                </a:lnTo>
                <a:lnTo>
                  <a:pt x="0" y="1396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023295" y="4259076"/>
            <a:ext cx="2757739" cy="2085540"/>
          </a:xfrm>
          <a:custGeom>
            <a:avLst/>
            <a:gdLst/>
            <a:ahLst/>
            <a:cxnLst/>
            <a:rect r="r" b="b" t="t" l="l"/>
            <a:pathLst>
              <a:path h="2085540" w="2757739">
                <a:moveTo>
                  <a:pt x="0" y="0"/>
                </a:moveTo>
                <a:lnTo>
                  <a:pt x="2757738" y="0"/>
                </a:lnTo>
                <a:lnTo>
                  <a:pt x="2757738" y="2085540"/>
                </a:lnTo>
                <a:lnTo>
                  <a:pt x="0" y="20855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323781" y="2080402"/>
            <a:ext cx="564043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</a:t>
            </a: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entajas del sistema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23146" y="7465962"/>
            <a:ext cx="410077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b="true" sz="2600">
                <a:solidFill>
                  <a:srgbClr val="232A3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Optimización de tiempos y coordinación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84984" y="8442325"/>
            <a:ext cx="477710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32A35"/>
                </a:solidFill>
                <a:latin typeface="Nunito"/>
                <a:ea typeface="Nunito"/>
                <a:cs typeface="Nunito"/>
                <a:sym typeface="Nunito"/>
              </a:rPr>
              <a:t>Agenda sin solapamientos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32A35"/>
                </a:solidFill>
                <a:latin typeface="Nunito"/>
                <a:ea typeface="Nunito"/>
                <a:cs typeface="Nunito"/>
                <a:sym typeface="Nunito"/>
              </a:rPr>
              <a:t>Registro rápido con evidencias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32A35"/>
                </a:solidFill>
                <a:latin typeface="Nunito"/>
                <a:ea typeface="Nunito"/>
                <a:cs typeface="Nunito"/>
                <a:sym typeface="Nunito"/>
              </a:rPr>
              <a:t>Menos errores manuales</a:t>
            </a:r>
          </a:p>
          <a:p>
            <a:pPr algn="ctr">
              <a:lnSpc>
                <a:spcPts val="2800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7133592" y="7465962"/>
            <a:ext cx="4777100" cy="2373363"/>
            <a:chOff x="0" y="0"/>
            <a:chExt cx="6369466" cy="3164485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450883" y="0"/>
              <a:ext cx="5467701" cy="1041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232A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Valor agregado a la gestión de la empresa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314518"/>
              <a:ext cx="6369466" cy="1849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232A35"/>
                  </a:solidFill>
                  <a:latin typeface="Nunito"/>
                  <a:ea typeface="Nunito"/>
                  <a:cs typeface="Nunito"/>
                  <a:sym typeface="Nunito"/>
                </a:rPr>
                <a:t>Datos centralizados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232A35"/>
                  </a:solidFill>
                  <a:latin typeface="Nunito"/>
                  <a:ea typeface="Nunito"/>
                  <a:cs typeface="Nunito"/>
                  <a:sym typeface="Nunito"/>
                </a:rPr>
                <a:t>Reportes confiables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232A35"/>
                  </a:solidFill>
                  <a:latin typeface="Nunito"/>
                  <a:ea typeface="Nunito"/>
                  <a:cs typeface="Nunito"/>
                  <a:sym typeface="Nunito"/>
                </a:rPr>
                <a:t>KPIs para toma de decisiones</a:t>
              </a:r>
            </a:p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63872" y="5473770"/>
            <a:ext cx="11667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97255" y="5473770"/>
            <a:ext cx="11667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30639" y="5473770"/>
            <a:ext cx="116670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82200" y="7465962"/>
            <a:ext cx="4777100" cy="2373363"/>
            <a:chOff x="0" y="0"/>
            <a:chExt cx="6369466" cy="3164485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450883" y="0"/>
              <a:ext cx="5467701" cy="1041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232A3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Seguridad en la información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314518"/>
              <a:ext cx="6369466" cy="18499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232A35"/>
                  </a:solidFill>
                  <a:latin typeface="Nunito"/>
                  <a:ea typeface="Nunito"/>
                  <a:cs typeface="Nunito"/>
                  <a:sym typeface="Nunito"/>
                </a:rPr>
                <a:t>Perfiles y permisos por rol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232A35"/>
                  </a:solidFill>
                  <a:latin typeface="Nunito"/>
                  <a:ea typeface="Nunito"/>
                  <a:cs typeface="Nunito"/>
                  <a:sym typeface="Nunito"/>
                </a:rPr>
                <a:t>Manejo adecuado de documentación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232A35"/>
                  </a:solidFill>
                  <a:latin typeface="Nunito"/>
                  <a:ea typeface="Nunito"/>
                  <a:cs typeface="Nunito"/>
                  <a:sym typeface="Nunito"/>
                </a:rPr>
                <a:t>Información trazable y respaldada</a:t>
              </a:r>
            </a:p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Proyetco</a:t>
            </a: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 “Gestión de Camiones”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140332" y="4038802"/>
            <a:ext cx="5623378" cy="6248198"/>
          </a:xfrm>
          <a:custGeom>
            <a:avLst/>
            <a:gdLst/>
            <a:ahLst/>
            <a:cxnLst/>
            <a:rect r="r" b="b" t="t" l="l"/>
            <a:pathLst>
              <a:path h="6248198" w="5623378">
                <a:moveTo>
                  <a:pt x="0" y="0"/>
                </a:moveTo>
                <a:lnTo>
                  <a:pt x="5623378" y="0"/>
                </a:lnTo>
                <a:lnTo>
                  <a:pt x="5623378" y="6248198"/>
                </a:lnTo>
                <a:lnTo>
                  <a:pt x="0" y="62481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15328" y="3768998"/>
            <a:ext cx="1848646" cy="1879979"/>
          </a:xfrm>
          <a:custGeom>
            <a:avLst/>
            <a:gdLst/>
            <a:ahLst/>
            <a:cxnLst/>
            <a:rect r="r" b="b" t="t" l="l"/>
            <a:pathLst>
              <a:path h="1879979" w="1848646">
                <a:moveTo>
                  <a:pt x="0" y="0"/>
                </a:moveTo>
                <a:lnTo>
                  <a:pt x="1848647" y="0"/>
                </a:lnTo>
                <a:lnTo>
                  <a:pt x="1848647" y="1879980"/>
                </a:lnTo>
                <a:lnTo>
                  <a:pt x="0" y="1879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58228" y="6534349"/>
            <a:ext cx="1926822" cy="1926822"/>
          </a:xfrm>
          <a:custGeom>
            <a:avLst/>
            <a:gdLst/>
            <a:ahLst/>
            <a:cxnLst/>
            <a:rect r="r" b="b" t="t" l="l"/>
            <a:pathLst>
              <a:path h="1926822" w="1926822">
                <a:moveTo>
                  <a:pt x="0" y="0"/>
                </a:moveTo>
                <a:lnTo>
                  <a:pt x="1926822" y="0"/>
                </a:lnTo>
                <a:lnTo>
                  <a:pt x="1926822" y="1926822"/>
                </a:lnTo>
                <a:lnTo>
                  <a:pt x="0" y="1926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1" y="2050755"/>
            <a:ext cx="1810511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</a:t>
            </a:r>
            <a:r>
              <a:rPr lang="en-US" sz="6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ualización de la app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Proyetco</a:t>
            </a: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 “Gestión de Camiones”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DAG5wZTVv14</dc:identifier>
  <dcterms:modified xsi:type="dcterms:W3CDTF">2011-08-01T06:04:30Z</dcterms:modified>
  <cp:revision>1</cp:revision>
  <dc:title>FINAL_TESIS.pptx</dc:title>
</cp:coreProperties>
</file>